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2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9" r:id="rId53"/>
    <p:sldId id="307" r:id="rId54"/>
    <p:sldId id="308" r:id="rId55"/>
    <p:sldId id="310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6105"/>
            <a:ext cx="9144000" cy="1200150"/>
          </a:xfrm>
        </p:spPr>
        <p:txBody>
          <a:bodyPr>
            <a:normAutofit/>
          </a:bodyPr>
          <a:lstStyle/>
          <a:p>
            <a:r>
              <a:rPr lang="en-US" altLang="en-US">
                <a:sym typeface="+mn-ea"/>
              </a:rPr>
              <a:t>Basic Concepts of Economics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56790"/>
            <a:ext cx="9144000" cy="3001010"/>
          </a:xfrm>
        </p:spPr>
        <p:txBody>
          <a:bodyPr/>
          <a:lstStyle/>
          <a:p>
            <a:r>
              <a:rPr lang="en-US" altLang="en-US"/>
              <a:t>Definition and Scope; Subject Matter of Economics; Central Economic Problems; Microeconomics vs. Macroeconomics; Different Economic Systems; Economics and Engineering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350"/>
          </a:xfrm>
        </p:spPr>
        <p:txBody>
          <a:bodyPr/>
          <a:p>
            <a:r>
              <a:rPr lang="en-US" altLang="en-US">
                <a:sym typeface="+mn-ea"/>
              </a:rPr>
              <a:t>Learning 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5890"/>
            <a:ext cx="10515600" cy="4771390"/>
          </a:xfrm>
        </p:spPr>
        <p:txBody>
          <a:bodyPr>
            <a:normAutofit fontScale="9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By the end of this lecture, students will be able to: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AU" altLang="en-US"/>
              <a:t>1. </a:t>
            </a:r>
            <a:r>
              <a:rPr lang="en-US" altLang="en-US"/>
              <a:t>Define economics and explain its scope.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2. </a:t>
            </a:r>
            <a:r>
              <a:rPr lang="en-US" altLang="en-US"/>
              <a:t>Describe the subject matter of economics.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3. </a:t>
            </a:r>
            <a:r>
              <a:rPr lang="en-US" altLang="en-US"/>
              <a:t>Explain the central economic problems faced by societies.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4. </a:t>
            </a:r>
            <a:r>
              <a:rPr lang="en-US" altLang="en-US"/>
              <a:t>Differentiate between microeconomics and macroeconomics.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5. </a:t>
            </a:r>
            <a:r>
              <a:rPr lang="en-US" altLang="en-US"/>
              <a:t>Compare different economic systems.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6. </a:t>
            </a:r>
            <a:r>
              <a:rPr lang="en-US" altLang="en-US"/>
              <a:t>Understand the relationship between economics and engineering.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7. </a:t>
            </a:r>
            <a:r>
              <a:rPr lang="en-US" altLang="en-US"/>
              <a:t>Apply economic concepts to real-life decision making.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735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5865"/>
            <a:ext cx="10515600" cy="4971415"/>
          </a:xfrm>
        </p:spPr>
        <p:txBody>
          <a:bodyPr>
            <a:normAutofit fontScale="25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9600"/>
              <a:t>Economics is one of the most important social sciences because it studies how individuals, firms, and governments make choices when resources are limited.</a:t>
            </a:r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Every day people make economic decisions such as:</a:t>
            </a:r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What to buy?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How much to save?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What to produce?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Which technology to use?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How to allocate limited resources?</a:t>
            </a:r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  <a:p>
            <a:pPr marL="0" indent="0">
              <a:buNone/>
            </a:pPr>
            <a:endParaRPr lang="en-US" altLang="en-US" sz="9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AU" altLang="en-US"/>
              <a:t>Introduction (Contd.)</a:t>
            </a:r>
            <a:endParaRPr lang="en-A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AU" altLang="en-US">
                <a:sym typeface="+mn-ea"/>
              </a:rPr>
              <a:t>E</a:t>
            </a:r>
            <a:r>
              <a:rPr lang="en-US" altLang="en-US">
                <a:sym typeface="+mn-ea"/>
              </a:rPr>
              <a:t>conomics helps us understand: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Production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Consumption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Distribution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Resource allocation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Economic growth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Welfare of society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What is Economics?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 b="1"/>
              <a:t>Meaning of Economics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word “Economics” comes from the Greek words: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“Oikos” = Household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“Nomos” = Management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Therefore, economics originally meant “household management.”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Today, economics studies how society manages scarce resources.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6305"/>
          </a:xfrm>
        </p:spPr>
        <p:txBody>
          <a:bodyPr/>
          <a:p>
            <a:r>
              <a:rPr lang="en-US" altLang="en-US">
                <a:sym typeface="+mn-ea"/>
              </a:rPr>
              <a:t>Definitions of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845"/>
            <a:ext cx="10515600" cy="475043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Adam Smith (Wealth Definition)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“An inquiry into the nature and causes of the wealth of nations.”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Main Focus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Production of wealth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Distribution of wealth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Economic growth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Limitation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Focused mainly on wealth rather than human welfare.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170"/>
          </a:xfrm>
        </p:spPr>
        <p:txBody>
          <a:bodyPr/>
          <a:p>
            <a:r>
              <a:rPr lang="en-US" altLang="en-US">
                <a:sym typeface="+mn-ea"/>
              </a:rPr>
              <a:t>Definitions of Economics</a:t>
            </a:r>
            <a:r>
              <a:rPr lang="en-AU" altLang="en-US">
                <a:sym typeface="+mn-ea"/>
              </a:rPr>
              <a:t> (Contd.)</a:t>
            </a:r>
            <a:endParaRPr lang="en-AU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9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Alfred Marshall (Welfare Definition)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“Economics is a study of mankind in the ordinary business of life.”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Main Focus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Human welfare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Material well-being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Wealth as a means to welfare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Importance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Shifted focus from wealth to human welfare.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920"/>
          </a:xfrm>
        </p:spPr>
        <p:txBody>
          <a:bodyPr/>
          <a:p>
            <a:r>
              <a:rPr lang="en-US" altLang="en-US">
                <a:sym typeface="+mn-ea"/>
              </a:rPr>
              <a:t>Definitions of Economics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7005"/>
            <a:ext cx="10515600" cy="474027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 b="1"/>
              <a:t>Lionel Robbins (Scarcity Definition)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“Economics is the science which studies human behavior as a relationship between ends and scarce means which have alternative uses.”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Key Concepts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Unlimited wants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Scarce resources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Alternative uses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Choice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This is the most widely accepted modern definition.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055"/>
          </a:xfrm>
        </p:spPr>
        <p:txBody>
          <a:bodyPr/>
          <a:p>
            <a:r>
              <a:rPr lang="en-US" altLang="en-US">
                <a:sym typeface="+mn-ea"/>
              </a:rPr>
              <a:t>Definitions of Economics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4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Samuelson’s Definition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“Economics is the study of how societies use scarce resources to produce valuable commodities and distribute them among different people.”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Key Focus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Resource allocation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Production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Distribution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Efficiency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770" y="365125"/>
            <a:ext cx="10221595" cy="758825"/>
          </a:xfrm>
        </p:spPr>
        <p:txBody>
          <a:bodyPr/>
          <a:p>
            <a:r>
              <a:rPr lang="en-US" altLang="en-US">
                <a:sym typeface="+mn-ea"/>
              </a:rPr>
              <a:t>Scope of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225" y="1123950"/>
            <a:ext cx="10315575" cy="5053330"/>
          </a:xfrm>
        </p:spPr>
        <p:txBody>
          <a:bodyPr>
            <a:normAutofit fontScale="6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scope of economics refers to the areas covered by economics.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Two Main Branches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Microeconomics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Macroeconomics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Economics also includes: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Consumption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Production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Exchange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Distribution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Public finance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International trade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Development economics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Environmental economics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15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Nature of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495" y="1120775"/>
            <a:ext cx="10053320" cy="5056505"/>
          </a:xfrm>
        </p:spPr>
        <p:txBody>
          <a:bodyPr>
            <a:normAutofit fontScale="6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Economics is: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</a:t>
            </a:r>
            <a:r>
              <a:rPr lang="en-US" altLang="en-US" b="1"/>
              <a:t>. A Social Science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Studies human behavior.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Examines economic relationships.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2. A Positive Science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Explains “what is.”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Inflation increases prices.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3. A Normative Science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Explains “what ought to be.”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Government should reduce unemployment.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4. A Science of Choice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Resources are scarce.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Choices must be made.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240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0690"/>
            <a:ext cx="10515600" cy="446659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AU" altLang="en-US"/>
              <a:t>1. </a:t>
            </a:r>
            <a:r>
              <a:rPr lang="en-US" altLang="en-US"/>
              <a:t>Consumption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2. </a:t>
            </a:r>
            <a:r>
              <a:rPr lang="en-US" altLang="en-US"/>
              <a:t>Production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3. </a:t>
            </a:r>
            <a:r>
              <a:rPr lang="en-US" altLang="en-US"/>
              <a:t>Exchange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4. </a:t>
            </a:r>
            <a:r>
              <a:rPr lang="en-US" altLang="en-US"/>
              <a:t>Distribution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5. </a:t>
            </a:r>
            <a:r>
              <a:rPr lang="en-US" altLang="en-US"/>
              <a:t>Public Finance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6. </a:t>
            </a:r>
            <a:r>
              <a:rPr lang="en-US" altLang="en-US"/>
              <a:t>Economic Development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7. </a:t>
            </a:r>
            <a:r>
              <a:rPr lang="en-US" altLang="en-US"/>
              <a:t>Social Welfare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100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</a:t>
            </a:r>
            <a:r>
              <a:rPr lang="en-AU" altLang="en-US">
                <a:sym typeface="+mn-ea"/>
              </a:rPr>
              <a:t> (Contd.)</a:t>
            </a:r>
            <a:endParaRPr lang="en-AU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8570"/>
            <a:ext cx="10515600" cy="4918710"/>
          </a:xfrm>
        </p:spPr>
        <p:txBody>
          <a:bodyPr>
            <a:normAutofit fontScale="6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subject matter of economics mainly deals with: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1. Consumption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Wants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Utility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Consumer behavior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Demand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Why do consumers buy more products when prices fall?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440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515600" cy="499300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b="1"/>
              <a:t>2. Production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Production process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Factors of production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Cost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Supply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Factors of Production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Land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Labor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Capital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Entrepreneurship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395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295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3. Exchange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Markets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Price determination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Trade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Money and banking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How are prices determined in the market?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100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3345"/>
            <a:ext cx="10515600" cy="481393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4. Distribution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Wages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Labor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Rent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Land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Interest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Capital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Profit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en-US">
                <a:sym typeface="+mn-ea"/>
              </a:rPr>
              <a:t>Entrepreneurship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Question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How is national income distributed among factors of production?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80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1915"/>
            <a:ext cx="10515600" cy="482536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5. Public Finance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Government revenue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Taxation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Public expenditure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Budget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145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345"/>
            <a:ext cx="10515600" cy="494093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6. Economic Development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Study of: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Growth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Poverty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Employment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Living standards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145"/>
          </a:xfrm>
        </p:spPr>
        <p:txBody>
          <a:bodyPr/>
          <a:p>
            <a:r>
              <a:rPr lang="en-US" altLang="en-US">
                <a:sym typeface="+mn-ea"/>
              </a:rPr>
              <a:t>Subject Matter of Economics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7005"/>
            <a:ext cx="10515600" cy="474027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AU" altLang="en-US" b="1"/>
              <a:t>7. Social Welfare</a:t>
            </a:r>
            <a:endParaRPr lang="en-AU" altLang="en-US" b="1"/>
          </a:p>
          <a:p>
            <a:pPr marL="0" indent="0">
              <a:buNone/>
            </a:pPr>
            <a:endParaRPr lang="en-AU" altLang="en-US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Study of:</a:t>
            </a:r>
            <a:endParaRPr lang="en-US" altLang="en-US" b="1">
              <a:sym typeface="+mn-ea"/>
            </a:endParaRPr>
          </a:p>
          <a:p>
            <a:pPr marL="0" indent="0">
              <a:buNone/>
            </a:pPr>
            <a:r>
              <a:rPr lang="en-AU" altLang="en-US">
                <a:sym typeface="+mn-ea"/>
              </a:rPr>
              <a:t>Equity</a:t>
            </a:r>
            <a:endParaRPr lang="en-AU" altLang="en-US">
              <a:sym typeface="+mn-ea"/>
            </a:endParaRPr>
          </a:p>
          <a:p>
            <a:pPr marL="0" indent="0">
              <a:buNone/>
            </a:pPr>
            <a:endParaRPr lang="en-AU" altLang="en-US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Examples</a:t>
            </a:r>
            <a:endParaRPr lang="en-US" altLang="en-US" b="1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Government subsidies for poor people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Social safety net programs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Universal healthcare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Public education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Poverty alleviation policies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AU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125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955"/>
          </a:xfrm>
        </p:spPr>
        <p:txBody>
          <a:bodyPr>
            <a:normAutofit fontScale="9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basic economic problem arises because: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Human Wants are Unlimited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But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Resources are Limited (Scarce)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This creates the problem of choice.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715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AU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 algn="ctr">
              <a:buNone/>
            </a:pPr>
            <a:r>
              <a:rPr lang="en-AU" altLang="en-US" b="1">
                <a:sym typeface="+mn-ea"/>
              </a:rPr>
              <a:t>S</a:t>
            </a:r>
            <a:r>
              <a:rPr lang="en-US" altLang="en-US" b="1">
                <a:sym typeface="+mn-ea"/>
              </a:rPr>
              <a:t>carcity and Choice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Scarcity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Resources are insufficient to satisfy all wants.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Examples of Scarce Resources</a:t>
            </a:r>
            <a:r>
              <a:rPr lang="en-AU" altLang="en-US" b="1"/>
              <a:t>       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Land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Water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Time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Labor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Capital</a:t>
            </a:r>
            <a:endParaRPr lang="en-AU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125970" y="3239135"/>
            <a:ext cx="4227830" cy="310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/>
              <a:t>Choice</a:t>
            </a:r>
            <a:endParaRPr lang="en-US" altLang="en-US" sz="2400"/>
          </a:p>
          <a:p>
            <a:r>
              <a:rPr lang="en-US" altLang="en-US" sz="2400"/>
              <a:t>Society must decide: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What to produce?</a:t>
            </a:r>
            <a:endParaRPr lang="en-US" altLang="en-US" sz="2400"/>
          </a:p>
          <a:p>
            <a:r>
              <a:rPr lang="en-US" altLang="en-US" sz="2400"/>
              <a:t>How to produce?</a:t>
            </a:r>
            <a:endParaRPr lang="en-US" altLang="en-US" sz="2400"/>
          </a:p>
          <a:p>
            <a:r>
              <a:rPr lang="en-US" altLang="en-US" sz="2400"/>
              <a:t>For whom to produce?</a:t>
            </a:r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895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AU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80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1. What to Produce?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Society must decide: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Which goods and services to produce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How much to produce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Should more resources be used for: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Food production?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Healthcare?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Military equipment?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3440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4140"/>
            <a:ext cx="10515600" cy="48031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/>
              <a:t>2. How to Produce?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Society must choose: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Labor-intensive method 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Capital-intensive method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Should a factory use: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More workers?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More machines?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492760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3. For Whom to Produce?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problem concerns: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Distribution of income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Distribution of goods and services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Question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Who gets the products?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Rich people?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Poor people?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Everyone equally?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485"/>
          </a:xfrm>
        </p:spPr>
        <p:txBody>
          <a:bodyPr/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4866640"/>
          </a:xfrm>
        </p:spPr>
        <p:txBody>
          <a:bodyPr/>
          <a:p>
            <a:pPr marL="0" indent="0">
              <a:buNone/>
            </a:pPr>
            <a:r>
              <a:rPr lang="en-US" altLang="en-US" b="1"/>
              <a:t>4. Full Employment of Resources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Resources should not remain idle.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Objective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Maximum utilization of labor and capital.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Reducing unemployment.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2010"/>
          </a:xfrm>
        </p:spPr>
        <p:txBody>
          <a:bodyPr>
            <a:normAutofit/>
          </a:bodyPr>
          <a:p>
            <a:r>
              <a:rPr lang="en-US" altLang="en-US">
                <a:sym typeface="+mn-ea"/>
              </a:rPr>
              <a:t>Central Economic Problems</a:t>
            </a:r>
            <a:r>
              <a:rPr lang="en-AU" altLang="en-US">
                <a:sym typeface="+mn-ea"/>
              </a:rPr>
              <a:t> (Contd.)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8890"/>
            <a:ext cx="10515600" cy="489839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 b="1"/>
              <a:t>5. Economic Growth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Economies aim to: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Increase production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Improve living standards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Expand productive capacity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Investment in: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Education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Infrastructure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Technology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/>
          <a:p>
            <a:r>
              <a:rPr lang="en-US" altLang="en-US">
                <a:sym typeface="+mn-ea"/>
              </a:rPr>
              <a:t>Opportunity Cost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050"/>
            <a:ext cx="10515600" cy="4761230"/>
          </a:xfrm>
        </p:spPr>
        <p:txBody>
          <a:bodyPr/>
          <a:p>
            <a:pPr marL="0" indent="0">
              <a:buNone/>
            </a:pPr>
            <a:r>
              <a:rPr lang="en-US" altLang="en-US" b="1"/>
              <a:t>Definition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Opportunity cost is the cost of the next best alternative sacrificed.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If a student spends time studying economics instead of working part-time, the forgone income is the opportunity cost.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170"/>
          </a:xfrm>
        </p:spPr>
        <p:txBody>
          <a:bodyPr/>
          <a:p>
            <a:r>
              <a:rPr lang="en-US" altLang="en-US">
                <a:sym typeface="+mn-ea"/>
              </a:rPr>
              <a:t>Production Possibility Curve (PPC)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4295"/>
            <a:ext cx="10515600" cy="4832985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Production Possibility Curve shows: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Different combinations of two goods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Produced with limited resources and technology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Assumptions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Fixed resources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Full employment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Constant technology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920"/>
          </a:xfrm>
        </p:spPr>
        <p:txBody>
          <a:bodyPr/>
          <a:p>
            <a:r>
              <a:rPr lang="en-US" altLang="en-US">
                <a:sym typeface="+mn-ea"/>
              </a:rPr>
              <a:t>Features of PPC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793615"/>
          </a:xfrm>
        </p:spPr>
        <p:txBody>
          <a:bodyPr/>
          <a:p>
            <a:pPr marL="0" indent="0">
              <a:buNone/>
            </a:pPr>
            <a:r>
              <a:rPr lang="en-US" altLang="en-US"/>
              <a:t>Downward sloping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Concave to the origin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Shows scarcity and choice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Shows opportunity cost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Producing more </a:t>
            </a:r>
            <a:r>
              <a:rPr lang="en-AU" altLang="en-US"/>
              <a:t>cotton</a:t>
            </a:r>
            <a:r>
              <a:rPr lang="en-US" altLang="en-US"/>
              <a:t> may require reducing </a:t>
            </a:r>
            <a:r>
              <a:rPr lang="en-AU" altLang="en-US"/>
              <a:t>wine</a:t>
            </a:r>
            <a:r>
              <a:rPr lang="en-US" altLang="en-US"/>
              <a:t> production.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9685" y="510540"/>
            <a:ext cx="7071360" cy="56667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485"/>
          </a:xfrm>
        </p:spPr>
        <p:txBody>
          <a:bodyPr/>
          <a:p>
            <a:r>
              <a:rPr lang="en-US" altLang="en-US">
                <a:sym typeface="+mn-ea"/>
              </a:rPr>
              <a:t>Microeconomics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48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Definition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Microeconomics studies individual economic units.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It focuses on: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Individual consumers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Individual firms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Individual markets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Price determination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170"/>
          </a:xfrm>
        </p:spPr>
        <p:txBody>
          <a:bodyPr/>
          <a:p>
            <a:r>
              <a:rPr lang="en-US" altLang="en-US">
                <a:sym typeface="+mn-ea"/>
              </a:rPr>
              <a:t>Topics of Microeconomics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845"/>
            <a:ext cx="10515600" cy="4750435"/>
          </a:xfrm>
        </p:spPr>
        <p:txBody>
          <a:bodyPr/>
          <a:p>
            <a:pPr marL="0" indent="0">
              <a:buNone/>
            </a:pPr>
            <a:r>
              <a:rPr lang="en-US" altLang="en-US"/>
              <a:t>Demand and supply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Consumer behavior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Production theory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Cost and revenue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Market structures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Wage determination</a:t>
            </a: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965"/>
          </a:xfrm>
        </p:spPr>
        <p:txBody>
          <a:bodyPr/>
          <a:p>
            <a:r>
              <a:rPr lang="en-US" altLang="en-US">
                <a:sym typeface="+mn-ea"/>
              </a:rPr>
              <a:t>Importance of Microeconomics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Helps firms determine prices.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Assists efficient resource allocation.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Explains market behavior.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Supports business decision making.</a:t>
            </a: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760"/>
          </a:xfrm>
        </p:spPr>
        <p:txBody>
          <a:bodyPr/>
          <a:p>
            <a:r>
              <a:rPr lang="en-US" altLang="en-US">
                <a:sym typeface="+mn-ea"/>
              </a:rPr>
              <a:t>Macroeconomics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3825"/>
            <a:ext cx="10515600" cy="47834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Definition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Macroeconomics studies the economy as a whole.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It focuses on: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National income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Inflation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Unemployment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Economic growth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Monetary policy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Fiscal policy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2805"/>
          </a:xfrm>
        </p:spPr>
        <p:txBody>
          <a:bodyPr/>
          <a:p>
            <a:r>
              <a:rPr lang="en-US" altLang="en-US">
                <a:sym typeface="+mn-ea"/>
              </a:rPr>
              <a:t>Topics of Macroeconomics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120"/>
            <a:ext cx="10515600" cy="4709160"/>
          </a:xfrm>
        </p:spPr>
        <p:txBody>
          <a:bodyPr/>
          <a:p>
            <a:pPr marL="0" indent="0">
              <a:buNone/>
            </a:pPr>
            <a:r>
              <a:rPr lang="en-US" altLang="en-US"/>
              <a:t>GDP and national income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Inflation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Unemployment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Economic growth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International trade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Balance of payments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170"/>
          </a:xfrm>
        </p:spPr>
        <p:txBody>
          <a:bodyPr/>
          <a:p>
            <a:pPr algn="l"/>
            <a:r>
              <a:rPr lang="en-US" altLang="en-US">
                <a:sym typeface="+mn-ea"/>
              </a:rPr>
              <a:t>Importance of Macroeconomics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960"/>
            <a:ext cx="10515600" cy="4719320"/>
          </a:xfrm>
        </p:spPr>
        <p:txBody>
          <a:bodyPr/>
          <a:p>
            <a:pPr marL="0" indent="0">
              <a:buNone/>
            </a:pPr>
            <a:r>
              <a:rPr lang="en-US" altLang="en-US"/>
              <a:t>Helps government policy formulation.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Maintains economic stability.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Promotes economic growth.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Controls inflation and unemployment.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760"/>
          </a:xfrm>
        </p:spPr>
        <p:txBody>
          <a:bodyPr>
            <a:normAutofit fontScale="90000"/>
          </a:bodyPr>
          <a:p>
            <a:pPr algn="ctr"/>
            <a:r>
              <a:rPr lang="en-US" altLang="en-US" sz="4000"/>
              <a:t>Difference Between Microeconomics and Macroeconomics</a:t>
            </a:r>
            <a:endParaRPr lang="en-US" altLang="en-US" sz="4000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510030"/>
          <a:ext cx="10515600" cy="44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739775">
                <a:tc>
                  <a:txBody>
                    <a:bodyPr/>
                    <a:p>
                      <a:pPr algn="l"/>
                      <a:r>
                        <a:rPr lang="en-US" altLang="en-US" sz="2800"/>
                        <a:t>Microeconomics</a:t>
                      </a:r>
                      <a:endParaRPr lang="en-US" altLang="en-US" sz="2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2800"/>
                        <a:t>Macroeconomics</a:t>
                      </a:r>
                      <a:endParaRPr lang="en-US" altLang="en-US" sz="2800"/>
                    </a:p>
                  </a:txBody>
                  <a:tcPr anchor="ctr" anchorCtr="0"/>
                </a:tc>
              </a:tr>
              <a:tr h="739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Studies individual units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Studies economy as a whole</a:t>
                      </a:r>
                      <a:endParaRPr lang="en-US" altLang="en-US" sz="2400"/>
                    </a:p>
                  </a:txBody>
                  <a:tcPr/>
                </a:tc>
              </a:tr>
              <a:tr h="739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Focuses on individual prices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Focuses on general price level</a:t>
                      </a:r>
                      <a:endParaRPr lang="en-US" altLang="en-US" sz="2400"/>
                    </a:p>
                  </a:txBody>
                  <a:tcPr/>
                </a:tc>
              </a:tr>
              <a:tr h="739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Studies individual markets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Studies aggregate markets</a:t>
                      </a:r>
                      <a:endParaRPr lang="en-US" altLang="en-US" sz="2400"/>
                    </a:p>
                  </a:txBody>
                  <a:tcPr/>
                </a:tc>
              </a:tr>
              <a:tr h="739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Concerned with resource allocation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US" sz="2400"/>
                        <a:t>Concerned with economic stability</a:t>
                      </a:r>
                      <a:endParaRPr lang="en-US" altLang="en-US" sz="2400"/>
                    </a:p>
                  </a:txBody>
                  <a:tcPr marL="0" marR="0" marT="0" marB="0" anchor="ctr" anchorCtr="0"/>
                </a:tc>
              </a:tr>
              <a:tr h="739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/>
                        <a:t>Example: Price of rice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US" sz="2400"/>
                        <a:t>Example: National inflation</a:t>
                      </a:r>
                      <a:endParaRPr lang="en-US" altLang="en-US" sz="2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Relationship Between Micro and Macro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030"/>
            <a:ext cx="10515600" cy="4667250"/>
          </a:xfrm>
        </p:spPr>
        <p:txBody>
          <a:bodyPr>
            <a:normAutofit lnSpcReduction="1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Microeconomics and macroeconomics are interrelated.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i="1"/>
              <a:t>Example</a:t>
            </a:r>
            <a:endParaRPr lang="en-US" altLang="en-US" i="1"/>
          </a:p>
          <a:p>
            <a:pPr marL="0" indent="0">
              <a:buNone/>
            </a:pPr>
            <a:r>
              <a:rPr lang="en-US" altLang="en-US"/>
              <a:t>Individual spending affects national income.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Firm investment affects economic growth.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 algn="ctr">
              <a:buNone/>
            </a:pPr>
            <a:r>
              <a:rPr lang="en-US" altLang="en-US" b="1"/>
              <a:t>Both branches are essential for understanding the economy.</a:t>
            </a:r>
            <a:endParaRPr lang="en-US" altLang="en-US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Economic Systems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An economic system is a method by which a society organizes production, distribution, and consumption.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Main Types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Capitalist Economy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Socialist Economy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Mixed Economy</a:t>
            </a: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2645"/>
          </a:xfrm>
        </p:spPr>
        <p:txBody>
          <a:bodyPr/>
          <a:p>
            <a:r>
              <a:rPr lang="en-US" altLang="en-US">
                <a:sym typeface="+mn-ea"/>
              </a:rPr>
              <a:t>Capitalist Economy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8440"/>
            <a:ext cx="10515600" cy="468884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Features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Private ownership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Profit motive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Freedom of enterprise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Market mechanism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Limited government intervention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United States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United Kingdom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/>
          <a:p>
            <a:r>
              <a:rPr lang="en-US" altLang="en-US">
                <a:sym typeface="+mn-ea"/>
              </a:rPr>
              <a:t>Advantages of Capitalism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Encourages innovation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Efficient resource use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Consumer choice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Competition improves quality</a:t>
            </a:r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6305"/>
          </a:xfrm>
        </p:spPr>
        <p:txBody>
          <a:bodyPr/>
          <a:p>
            <a:r>
              <a:rPr lang="en-US" altLang="en-US">
                <a:sym typeface="+mn-ea"/>
              </a:rPr>
              <a:t>Disadvantages of Capitalism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Income inequality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Monopoly power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Unemployment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Economic instability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555"/>
          </a:xfrm>
        </p:spPr>
        <p:txBody>
          <a:bodyPr/>
          <a:p>
            <a:r>
              <a:rPr lang="en-US" altLang="en-US">
                <a:sym typeface="+mn-ea"/>
              </a:rPr>
              <a:t>Socialist Economy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Features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State ownership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Central planning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Social welfare objective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Limited private property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Former Soviet Union</a:t>
            </a:r>
            <a:r>
              <a:rPr lang="en-AU" altLang="en-US"/>
              <a:t> (USSR)</a:t>
            </a:r>
            <a:endParaRPr lang="en-AU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150"/>
          </a:xfrm>
        </p:spPr>
        <p:txBody>
          <a:bodyPr/>
          <a:p>
            <a:r>
              <a:rPr lang="en-US" altLang="en-US">
                <a:sym typeface="+mn-ea"/>
              </a:rPr>
              <a:t>Advantages of Socialism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Reduces inequality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Ensures social welfare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Provides basic needs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Less exploitation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145"/>
          </a:xfrm>
        </p:spPr>
        <p:txBody>
          <a:bodyPr/>
          <a:p>
            <a:r>
              <a:rPr lang="en-US" altLang="en-US">
                <a:sym typeface="+mn-ea"/>
              </a:rPr>
              <a:t>Disadvantages of Socialism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Less innovation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Weak incentives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Bureaucratic inefficiency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Limited consumer choice</a:t>
            </a: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055"/>
          </a:xfrm>
        </p:spPr>
        <p:txBody>
          <a:bodyPr/>
          <a:p>
            <a:r>
              <a:rPr lang="en-US" altLang="en-US">
                <a:sym typeface="+mn-ea"/>
              </a:rPr>
              <a:t>Mixed Economy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960"/>
            <a:ext cx="10515600" cy="471932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Features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Combination of capitalism and socialism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Both private and public sectors exist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Government regulation with market mechanism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Bangladesh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India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Canada</a:t>
            </a:r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670"/>
          </a:xfrm>
        </p:spPr>
        <p:txBody>
          <a:bodyPr/>
          <a:p>
            <a:r>
              <a:rPr lang="en-US" altLang="en-US">
                <a:sym typeface="+mn-ea"/>
              </a:rPr>
              <a:t>Advantages of Mixed Economy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Economic freedom with regulation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Balanced growth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Social welfare protection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Reduced market failure</a:t>
            </a:r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625"/>
          </a:xfrm>
        </p:spPr>
        <p:txBody>
          <a:bodyPr/>
          <a:p>
            <a:r>
              <a:rPr lang="en-US" altLang="en-US">
                <a:sym typeface="+mn-ea"/>
              </a:rPr>
              <a:t>Economics and Engineering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845"/>
            <a:ext cx="10515600" cy="4750435"/>
          </a:xfrm>
        </p:spPr>
        <p:txBody>
          <a:bodyPr>
            <a:normAutofit fontScale="9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Economics and engineering are closely related.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Engineering projects require: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Cost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Resource allocation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Feasibility studies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Efficiency evaluation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Economics helps engineers make rational decisions.</a:t>
            </a:r>
            <a:endParaRPr lang="en-US" altLang="en-US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895"/>
          </a:xfrm>
        </p:spPr>
        <p:txBody>
          <a:bodyPr/>
          <a:p>
            <a:r>
              <a:rPr lang="en-US" altLang="en-US">
                <a:sym typeface="+mn-ea"/>
              </a:rPr>
              <a:t>Importance of Economics for Engineers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755"/>
            <a:ext cx="10515600" cy="4835525"/>
          </a:xfrm>
        </p:spPr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 b="1"/>
              <a:t>1. Cost Minimization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Choose the least costly method.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2. Profit Maximization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Improve productivity and efficiency.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3. Project Evaluation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Analyze costs and benefits.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4. Resource Optimization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Efficient use of labor, materials, and technology.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5. Decision Making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Selection among alternatives.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510"/>
          </a:xfrm>
        </p:spPr>
        <p:txBody>
          <a:bodyPr/>
          <a:p>
            <a:r>
              <a:rPr lang="en-US" altLang="en-US">
                <a:sym typeface="+mn-ea"/>
              </a:rPr>
              <a:t>Engineering Economics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0635"/>
            <a:ext cx="10515600" cy="4906645"/>
          </a:xfrm>
        </p:spPr>
        <p:txBody>
          <a:bodyPr>
            <a:normAutofit fontScale="9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Engineering economics applies economic principles to engineering decisions.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Common Applications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Project appraisal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Investment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Cost-benefit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Break-even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Capital budgeting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736600"/>
          </a:xfrm>
        </p:spPr>
        <p:txBody>
          <a:bodyPr>
            <a:normAutofit fontScale="90000"/>
          </a:bodyPr>
          <a:p>
            <a:pPr algn="ctr"/>
            <a:r>
              <a:rPr lang="en-US" altLang="en-US"/>
              <a:t>Real-Life Examples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40105" y="1375410"/>
            <a:ext cx="5157470" cy="762000"/>
          </a:xfrm>
        </p:spPr>
        <p:txBody>
          <a:bodyPr>
            <a:normAutofit fontScale="50000"/>
          </a:bodyPr>
          <a:p>
            <a:endParaRPr lang="en-US" altLang="en-US">
              <a:sym typeface="+mn-ea"/>
            </a:endParaRPr>
          </a:p>
          <a:p>
            <a:r>
              <a:rPr lang="en-US" altLang="en-US" sz="4800">
                <a:sym typeface="+mn-ea"/>
              </a:rPr>
              <a:t>Example 1: Bridge Construction</a:t>
            </a:r>
            <a:endParaRPr lang="en-US" altLang="en-US" sz="4800"/>
          </a:p>
          <a:p>
            <a:endParaRPr lang="en-US" sz="48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40105" y="2137410"/>
            <a:ext cx="5157470" cy="4052570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2400" b="1"/>
              <a:t>Engineers compare</a:t>
            </a:r>
            <a:r>
              <a:rPr lang="en-US" altLang="en-US" b="1"/>
              <a:t>:</a:t>
            </a:r>
            <a:endParaRPr lang="en-US" altLang="en-US" b="1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Cost of materials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Durability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Maintenance cost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Social benefits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540385"/>
          </a:xfrm>
        </p:spPr>
        <p:txBody>
          <a:bodyPr/>
          <a:p>
            <a:r>
              <a:rPr lang="en-US" altLang="en-US">
                <a:sym typeface="+mn-ea"/>
              </a:rPr>
              <a:t>Example 2: Power Plant Selection</a:t>
            </a:r>
            <a:endParaRPr lang="en-US" altLang="en-US"/>
          </a:p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200" y="2137410"/>
            <a:ext cx="5183505" cy="4052570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en-US" sz="1900"/>
          </a:p>
          <a:p>
            <a:pPr marL="0" indent="0">
              <a:buNone/>
            </a:pPr>
            <a:r>
              <a:rPr lang="en-US" altLang="en-US" sz="2400" b="1"/>
              <a:t>Decision between:</a:t>
            </a:r>
            <a:endParaRPr lang="en-US" altLang="en-US" sz="2400" b="1"/>
          </a:p>
          <a:p>
            <a:pPr marL="0" indent="0">
              <a:buNone/>
            </a:pP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Coal plant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Solar plant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Hydroelectric plant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2700" b="1"/>
              <a:t>Economic analysis helps identify the best alternative.</a:t>
            </a:r>
            <a:endParaRPr lang="en-US" altLang="en-US" sz="27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170"/>
          </a:xfrm>
        </p:spPr>
        <p:txBody>
          <a:bodyPr/>
          <a:p>
            <a:r>
              <a:rPr lang="en-US" altLang="en-US">
                <a:sym typeface="+mn-ea"/>
              </a:rPr>
              <a:t>Suggested Readings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AU" altLang="en-US"/>
              <a:t>1. </a:t>
            </a:r>
            <a:r>
              <a:rPr lang="en-US" altLang="en-US"/>
              <a:t>Samuelson, P. A., &amp; Nordhaus, W. D. – Economics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2. </a:t>
            </a:r>
            <a:r>
              <a:rPr lang="en-US" altLang="en-US"/>
              <a:t>Gregory Mankiw – Principles of Economics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3. </a:t>
            </a:r>
            <a:r>
              <a:rPr lang="en-US" altLang="en-US"/>
              <a:t>Lipsey and Chrystal – Economics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4. </a:t>
            </a:r>
            <a:r>
              <a:rPr lang="en-US" altLang="en-US"/>
              <a:t>Alfred Marshall – Principles of Economics</a:t>
            </a:r>
            <a:endParaRPr lang="en-US" altLang="en-US"/>
          </a:p>
          <a:p>
            <a:pPr marL="0" indent="0">
              <a:buNone/>
            </a:pPr>
            <a:r>
              <a:rPr lang="en-AU" altLang="en-US"/>
              <a:t>5. </a:t>
            </a:r>
            <a:r>
              <a:rPr lang="en-US" altLang="en-US"/>
              <a:t>Lionel Robbins – An Essay on the Nature and Significance of Economic Science</a:t>
            </a:r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Questions and Discussion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 altLang="en-US" sz="4400"/>
          </a:p>
          <a:p>
            <a:pPr marL="0" indent="0" algn="ctr">
              <a:buNone/>
            </a:pPr>
            <a:endParaRPr lang="en-US" altLang="en-US" sz="4400"/>
          </a:p>
          <a:p>
            <a:pPr marL="0" indent="0" algn="ctr">
              <a:buNone/>
            </a:pPr>
            <a:r>
              <a:rPr lang="en-US" altLang="en-US" sz="4400"/>
              <a:t>Thank You</a:t>
            </a:r>
            <a:endParaRPr lang="en-US" altLang="en-US" sz="4400"/>
          </a:p>
          <a:p>
            <a:pPr marL="0" indent="0" algn="ctr">
              <a:buNone/>
            </a:pPr>
            <a:endParaRPr lang="en-US" altLang="en-US" sz="4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80060" y="653415"/>
            <a:ext cx="10100310" cy="556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Short Questions</a:t>
            </a:r>
            <a:endParaRPr lang="en-US" altLang="en-US" sz="2000" b="1"/>
          </a:p>
          <a:p>
            <a:r>
              <a:rPr lang="en-US" altLang="en-US" sz="2000"/>
              <a:t>Define economics.</a:t>
            </a:r>
            <a:endParaRPr lang="en-US" altLang="en-US" sz="2000"/>
          </a:p>
          <a:p>
            <a:r>
              <a:rPr lang="en-US" altLang="en-US" sz="2000"/>
              <a:t>What is opportunity cost?</a:t>
            </a:r>
            <a:endParaRPr lang="en-US" altLang="en-US" sz="2000"/>
          </a:p>
          <a:p>
            <a:r>
              <a:rPr lang="en-US" altLang="en-US" sz="2000"/>
              <a:t>Differentiate between microeconomics and macroeconomics.</a:t>
            </a:r>
            <a:endParaRPr lang="en-US" altLang="en-US" sz="2000"/>
          </a:p>
          <a:p>
            <a:r>
              <a:rPr lang="en-US" altLang="en-US" sz="2000"/>
              <a:t>What are the central economic problems?</a:t>
            </a:r>
            <a:endParaRPr lang="en-US" altLang="en-US" sz="2000"/>
          </a:p>
          <a:p>
            <a:r>
              <a:rPr lang="en-US" altLang="en-US" sz="2000"/>
              <a:t>Define mixed economy.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Essay Questions</a:t>
            </a:r>
            <a:endParaRPr lang="en-US" altLang="en-US" sz="2000" b="1"/>
          </a:p>
          <a:p>
            <a:r>
              <a:rPr lang="en-US" altLang="en-US" sz="2000"/>
              <a:t>Discuss the scope and subject matter of economics.</a:t>
            </a:r>
            <a:endParaRPr lang="en-US" altLang="en-US" sz="2000"/>
          </a:p>
          <a:p>
            <a:r>
              <a:rPr lang="en-US" altLang="en-US" sz="2000"/>
              <a:t>Explain the central economic problems with examples.</a:t>
            </a:r>
            <a:endParaRPr lang="en-US" altLang="en-US" sz="2000"/>
          </a:p>
          <a:p>
            <a:r>
              <a:rPr lang="en-US" altLang="en-US" sz="2000"/>
              <a:t>Compare capitalist, socialist, and mixed economic systems.</a:t>
            </a:r>
            <a:endParaRPr lang="en-US" altLang="en-US" sz="2000"/>
          </a:p>
          <a:p>
            <a:r>
              <a:rPr lang="en-US" altLang="en-US" sz="2000"/>
              <a:t>Discuss the importance of economics in engineering</a:t>
            </a:r>
            <a:r>
              <a:rPr lang="en-US" altLang="en-US" sz="2400"/>
              <a:t>.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8792845" y="1409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142480" y="483235"/>
            <a:ext cx="4821555" cy="573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Why should engineers study economics?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Explain the role of cost-benefit analysis in engineering projects.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How does economics assist engineers in resource allocation?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Explain the importance of feasibility studies in engineering decision-making.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What is engineering economics? Mention two practical applications.</a:t>
            </a:r>
            <a:endParaRPr lang="en-US"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7050"/>
          </a:xfrm>
        </p:spPr>
        <p:txBody>
          <a:bodyPr>
            <a:normAutofit fontScale="90000"/>
          </a:bodyPr>
          <a:p>
            <a:r>
              <a:rPr lang="en-AU" altLang="en-US" sz="3555"/>
              <a:t>Questions</a:t>
            </a:r>
            <a:endParaRPr lang="en-AU" altLang="en-US" sz="3555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48385"/>
            <a:ext cx="10515600" cy="5128895"/>
          </a:xfrm>
        </p:spPr>
        <p:txBody>
          <a:bodyPr/>
          <a:p>
            <a:r>
              <a:rPr lang="en-US" altLang="en-US"/>
              <a:t>Compare Adam Smith's wealth definition and Marshall's welfare definition of economics.</a:t>
            </a:r>
            <a:endParaRPr lang="en-US" altLang="en-US"/>
          </a:p>
          <a:p>
            <a:r>
              <a:rPr lang="en-US" altLang="en-US"/>
              <a:t>Why is Robbins' scarcity definition considered more comprehensive than earlier definitions?</a:t>
            </a:r>
            <a:endParaRPr lang="en-US" altLang="en-US"/>
          </a:p>
          <a:p>
            <a:r>
              <a:rPr lang="en-US" altLang="en-US"/>
              <a:t>Explain why economics is called a science of choice.</a:t>
            </a:r>
            <a:endParaRPr lang="en-US" altLang="en-US"/>
          </a:p>
          <a:p>
            <a:r>
              <a:rPr lang="en-US" altLang="en-US"/>
              <a:t>Distinguish between positive economics and normative economics with suitable examples.</a:t>
            </a:r>
            <a:endParaRPr lang="en-US" altLang="en-US"/>
          </a:p>
          <a:p>
            <a:r>
              <a:rPr lang="en-US" altLang="en-US"/>
              <a:t>Why is economics regarded as a social science?</a:t>
            </a:r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7050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0295"/>
            <a:ext cx="10515600" cy="5086985"/>
          </a:xfrm>
        </p:spPr>
        <p:txBody>
          <a:bodyPr/>
          <a:p>
            <a:r>
              <a:rPr lang="en-US" altLang="en-US"/>
              <a:t>Explain the relationship between production and consumption in economics.</a:t>
            </a:r>
            <a:endParaRPr lang="en-US" altLang="en-US"/>
          </a:p>
          <a:p>
            <a:r>
              <a:rPr lang="en-US" altLang="en-US"/>
              <a:t>What role does exchange play in economic activities?</a:t>
            </a:r>
            <a:endParaRPr lang="en-US" altLang="en-US"/>
          </a:p>
          <a:p>
            <a:r>
              <a:rPr lang="en-US" altLang="en-US"/>
              <a:t>Why is distribution considered an important subject matter of economics?</a:t>
            </a:r>
            <a:endParaRPr lang="en-US" altLang="en-US"/>
          </a:p>
          <a:p>
            <a:r>
              <a:rPr lang="en-US" altLang="en-US"/>
              <a:t>How does public finance contribute to economic development?</a:t>
            </a:r>
            <a:endParaRPr lang="en-US" altLang="en-US"/>
          </a:p>
          <a:p>
            <a:r>
              <a:rPr lang="en-US" altLang="en-US"/>
              <a:t>Explain the significance of social welfare as a subject matter of economics.</a:t>
            </a:r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1800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3455"/>
            <a:ext cx="10515600" cy="5203825"/>
          </a:xfrm>
        </p:spPr>
        <p:txBody>
          <a:bodyPr/>
          <a:p>
            <a:r>
              <a:rPr lang="en-US" altLang="en-US"/>
              <a:t>Why does scarcity give rise to economic problems?</a:t>
            </a:r>
            <a:endParaRPr lang="en-US" altLang="en-US"/>
          </a:p>
          <a:p>
            <a:r>
              <a:rPr lang="en-US" altLang="en-US"/>
              <a:t>Explain the relationship between scarcity and choice.</a:t>
            </a:r>
            <a:endParaRPr lang="en-US" altLang="en-US"/>
          </a:p>
          <a:p>
            <a:r>
              <a:rPr lang="en-US" altLang="en-US"/>
              <a:t>What is opportunity cost? Illustrate with a real-life example.</a:t>
            </a:r>
            <a:endParaRPr lang="en-US" altLang="en-US"/>
          </a:p>
          <a:p>
            <a:r>
              <a:rPr lang="en-US" altLang="en-US"/>
              <a:t>Why is opportunity cost considered a fundamental concept in economics?</a:t>
            </a:r>
            <a:endParaRPr lang="en-US" altLang="en-US"/>
          </a:p>
          <a:p>
            <a:r>
              <a:rPr lang="en-US" altLang="en-US"/>
              <a:t>Explain how opportunity cost influences individual decision-making.</a:t>
            </a:r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345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600"/>
          </a:xfrm>
        </p:spPr>
        <p:txBody>
          <a:bodyPr/>
          <a:p>
            <a:r>
              <a:rPr lang="en-US" altLang="en-US"/>
              <a:t>Why must every economy answer the question "What to produce?"</a:t>
            </a:r>
            <a:endParaRPr lang="en-US" altLang="en-US"/>
          </a:p>
          <a:p>
            <a:r>
              <a:rPr lang="en-US" altLang="en-US"/>
              <a:t>Explain the economic significance of the problem "How to produce?"</a:t>
            </a:r>
            <a:endParaRPr lang="en-US" altLang="en-US"/>
          </a:p>
          <a:p>
            <a:r>
              <a:rPr lang="en-US" altLang="en-US"/>
              <a:t>Why is the problem "For whom to produce?" closely related to income distribution?</a:t>
            </a:r>
            <a:endParaRPr lang="en-US" altLang="en-US"/>
          </a:p>
          <a:p>
            <a:r>
              <a:rPr lang="en-US" altLang="en-US"/>
              <a:t>Explain the importance of full employment in an economy.</a:t>
            </a:r>
            <a:endParaRPr lang="en-US" altLang="en-US"/>
          </a:p>
          <a:p>
            <a:r>
              <a:rPr lang="en-US" altLang="en-US"/>
              <a:t>Why is economic growth considered a central economic problem?</a:t>
            </a:r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0365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865"/>
            <a:ext cx="10515600" cy="5098415"/>
          </a:xfrm>
        </p:spPr>
        <p:txBody>
          <a:bodyPr/>
          <a:p>
            <a:r>
              <a:rPr lang="en-US" altLang="en-US"/>
              <a:t>What assumptions underlie the Production Possibility Curve (PPC)?</a:t>
            </a:r>
            <a:endParaRPr lang="en-US" altLang="en-US"/>
          </a:p>
          <a:p>
            <a:r>
              <a:rPr lang="en-US" altLang="en-US"/>
              <a:t>Why is the PPC generally downward sloping?</a:t>
            </a:r>
            <a:endParaRPr lang="en-US" altLang="en-US"/>
          </a:p>
          <a:p>
            <a:r>
              <a:rPr lang="en-US" altLang="en-US"/>
              <a:t>Why is the PPC usually concave to the origin?</a:t>
            </a:r>
            <a:endParaRPr lang="en-US" altLang="en-US"/>
          </a:p>
          <a:p>
            <a:r>
              <a:rPr lang="en-US" altLang="en-US"/>
              <a:t>What does a point inside the PPC indicate?</a:t>
            </a:r>
            <a:endParaRPr lang="en-US" altLang="en-US"/>
          </a:p>
          <a:p>
            <a:r>
              <a:rPr lang="en-US" altLang="en-US"/>
              <a:t>What does a point outside the PPC represent?</a:t>
            </a:r>
            <a:endParaRPr lang="en-US" altLang="en-US"/>
          </a:p>
          <a:p>
            <a:r>
              <a:rPr lang="en-US" altLang="en-US"/>
              <a:t>How does the PPC illustrate the concept of opportunity cost?</a:t>
            </a:r>
            <a:endParaRPr lang="en-US" altLang="en-US"/>
          </a:p>
          <a:p>
            <a:r>
              <a:rPr lang="en-US" altLang="en-US"/>
              <a:t>What happens to the PPC when technological progress occurs?</a:t>
            </a:r>
            <a:endParaRPr lang="en-US" altLang="en-US"/>
          </a:p>
          <a:p>
            <a:r>
              <a:rPr lang="en-US" altLang="en-US"/>
              <a:t>Explain how economic growth can shift the PPC outward.</a:t>
            </a:r>
            <a:endParaRPr lang="en-US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4185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600"/>
          </a:xfrm>
        </p:spPr>
        <p:txBody>
          <a:bodyPr>
            <a:normAutofit fontScale="90000"/>
          </a:bodyPr>
          <a:p>
            <a:r>
              <a:rPr lang="en-US" altLang="en-US"/>
              <a:t>Why are microeconomics and macroeconomics complementary rather than competing branches?</a:t>
            </a:r>
            <a:endParaRPr lang="en-US" altLang="en-US"/>
          </a:p>
          <a:p>
            <a:r>
              <a:rPr lang="en-US" altLang="en-US"/>
              <a:t>Explain the relationship between individual spending and national income.</a:t>
            </a:r>
            <a:endParaRPr lang="en-US" altLang="en-US"/>
          </a:p>
          <a:p>
            <a:r>
              <a:rPr lang="en-US" altLang="en-US"/>
              <a:t>Give two examples each of microeconomic and macroeconomic issues.</a:t>
            </a:r>
            <a:endParaRPr lang="en-US" altLang="en-US"/>
          </a:p>
          <a:p>
            <a:r>
              <a:rPr lang="en-US" altLang="en-US"/>
              <a:t>Why is profit motive important in a capitalist economy?</a:t>
            </a:r>
            <a:endParaRPr lang="en-US" altLang="en-US"/>
          </a:p>
          <a:p>
            <a:r>
              <a:rPr lang="en-US" altLang="en-US"/>
              <a:t>Explain two major criticisms of a capitalist economy.</a:t>
            </a:r>
            <a:endParaRPr lang="en-US" altLang="en-US"/>
          </a:p>
          <a:p>
            <a:r>
              <a:rPr lang="en-US" altLang="en-US"/>
              <a:t>Why may innovation be limited in a socialist economy?</a:t>
            </a:r>
            <a:endParaRPr lang="en-US" altLang="en-US"/>
          </a:p>
          <a:p>
            <a:r>
              <a:rPr lang="en-US" altLang="en-US"/>
              <a:t>Explain how a mixed economy combines the features of capitalism and socialism.</a:t>
            </a:r>
            <a:endParaRPr lang="en-US" altLang="en-US"/>
          </a:p>
          <a:p>
            <a:r>
              <a:rPr lang="en-US" altLang="en-US"/>
              <a:t>Why is Bangladesh considered a mixed economy?</a:t>
            </a:r>
            <a:endParaRPr lang="en-US" altLang="en-US"/>
          </a:p>
          <a:p>
            <a:r>
              <a:rPr lang="en-US" altLang="en-US"/>
              <a:t>Compare the role of government in capitalist and socialist economic systems.</a:t>
            </a:r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345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AU" altLang="en-US" sz="3555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6000"/>
            <a:ext cx="10515600" cy="5161280"/>
          </a:xfrm>
        </p:spPr>
        <p:txBody>
          <a:bodyPr>
            <a:normAutofit fontScale="70000"/>
          </a:bodyPr>
          <a:p>
            <a:r>
              <a:rPr lang="en-US" altLang="en-US"/>
              <a:t>"Unlimited wants and limited resources are the root causes of all economic problems." Explain.</a:t>
            </a:r>
            <a:endParaRPr lang="en-US" altLang="en-US"/>
          </a:p>
          <a:p>
            <a:r>
              <a:rPr lang="en-US" altLang="en-US"/>
              <a:t>Discuss how opportunity cost influences government policy decisions.</a:t>
            </a:r>
            <a:endParaRPr lang="en-US" altLang="en-US"/>
          </a:p>
          <a:p>
            <a:r>
              <a:rPr lang="en-US" altLang="en-US"/>
              <a:t>Why might a mixed economy be more suitable for developing countries than a purely capitalist or socialist economy?</a:t>
            </a:r>
            <a:endParaRPr lang="en-US" altLang="en-US"/>
          </a:p>
          <a:p>
            <a:r>
              <a:rPr lang="en-US" altLang="en-US"/>
              <a:t>Explain how economics helps improve social welfare.</a:t>
            </a:r>
            <a:endParaRPr lang="en-US" altLang="en-US"/>
          </a:p>
          <a:p>
            <a:r>
              <a:rPr lang="en-US" altLang="en-US"/>
              <a:t>"Every engineering decision is also an economic decision." Explain with examples.</a:t>
            </a:r>
            <a:endParaRPr lang="en-US" altLang="en-US"/>
          </a:p>
          <a:p>
            <a:r>
              <a:rPr lang="en-US" altLang="en-US"/>
              <a:t>How can technological advancement help solve the problem of scarcity?</a:t>
            </a:r>
            <a:endParaRPr lang="en-US" altLang="en-US"/>
          </a:p>
          <a:p>
            <a:r>
              <a:rPr lang="en-US" altLang="en-US"/>
              <a:t>Explain why efficient resource allocation is important for economic development.</a:t>
            </a:r>
            <a:endParaRPr lang="en-US" altLang="en-US"/>
          </a:p>
          <a:p>
            <a:r>
              <a:rPr lang="en-US" altLang="en-US"/>
              <a:t>Why do economists emphasize choice rather than wealth alone?</a:t>
            </a:r>
            <a:endParaRPr lang="en-US" altLang="en-US"/>
          </a:p>
          <a:p>
            <a:r>
              <a:rPr lang="en-US" altLang="en-US"/>
              <a:t>Discuss the relevance of the PPC in explaining real-world resource allocation decisions.</a:t>
            </a:r>
            <a:endParaRPr lang="en-US" altLang="en-US"/>
          </a:p>
          <a:p>
            <a:r>
              <a:rPr lang="en-US" altLang="en-US"/>
              <a:t>Explain how economics helps individuals, firms, and governments make rational decisions.</a:t>
            </a:r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140"/>
          </a:xfrm>
        </p:spPr>
        <p:txBody>
          <a:bodyPr>
            <a:normAutofit fontScale="90000"/>
          </a:bodyPr>
          <a:p>
            <a:r>
              <a:rPr lang="en-AU" altLang="en-US" sz="3555">
                <a:sym typeface="+mn-ea"/>
              </a:rPr>
              <a:t>Questions</a:t>
            </a:r>
            <a:endParaRPr lang="en-US" sz="355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171440"/>
          </a:xfrm>
        </p:spPr>
        <p:txBody>
          <a:bodyPr/>
          <a:p>
            <a:r>
              <a:rPr lang="en-US" altLang="en-US"/>
              <a:t>Draw a Production Possibility Curve and explain its main features.</a:t>
            </a:r>
            <a:endParaRPr lang="en-US" altLang="en-US"/>
          </a:p>
          <a:p>
            <a:r>
              <a:rPr lang="en-US" altLang="en-US"/>
              <a:t>Using a PPC diagram, illustrate the concept of opportunity cost.</a:t>
            </a:r>
            <a:endParaRPr lang="en-US" altLang="en-US"/>
          </a:p>
          <a:p>
            <a:r>
              <a:rPr lang="en-US" altLang="en-US"/>
              <a:t>Using a PPC diagram, distinguish between efficient, inefficient, and unattainable production points.</a:t>
            </a:r>
            <a:endParaRPr lang="en-US" altLang="en-US"/>
          </a:p>
          <a:p>
            <a:r>
              <a:rPr lang="en-US" altLang="en-US"/>
              <a:t>Show with a diagram how economic growth affects the PPC.</a:t>
            </a:r>
            <a:endParaRPr lang="en-US" altLang="en-US"/>
          </a:p>
          <a:p>
            <a:r>
              <a:rPr lang="en-US" altLang="en-US"/>
              <a:t>Draw a PPC and explain the problem of scarcity using the diagram.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14467</Words>
  <Application>WPS Presentation</Application>
  <PresentationFormat>Widescreen</PresentationFormat>
  <Paragraphs>709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Basic Concepts of Economics</vt:lpstr>
      <vt:lpstr>Learning Objectives</vt:lpstr>
      <vt:lpstr>Introduction</vt:lpstr>
      <vt:lpstr>Introduction (Contd.)</vt:lpstr>
      <vt:lpstr>What is Economics?</vt:lpstr>
      <vt:lpstr>Definitions of Economics</vt:lpstr>
      <vt:lpstr>Definitions of Economics (Contd.)</vt:lpstr>
      <vt:lpstr>Definitions of Economics (Contd.)</vt:lpstr>
      <vt:lpstr>Definitions of Economics (Contd.)</vt:lpstr>
      <vt:lpstr>Scope of Economics</vt:lpstr>
      <vt:lpstr>Nature of Economics</vt:lpstr>
      <vt:lpstr>Subject Matter of Economics</vt:lpstr>
      <vt:lpstr>Subject Matter of Economics (Contd.)</vt:lpstr>
      <vt:lpstr>Subject Matter of Economics (Contd.)</vt:lpstr>
      <vt:lpstr>Subject Matter of Economics (Contd.)</vt:lpstr>
      <vt:lpstr>Subject Matter of Economics (Contd.)</vt:lpstr>
      <vt:lpstr>Subject Matter of Economics (Contd.)</vt:lpstr>
      <vt:lpstr>Subject Matter of Economics (Contd.)</vt:lpstr>
      <vt:lpstr>Subject Matter of Economics (Contd.)</vt:lpstr>
      <vt:lpstr>Central Economic Problems</vt:lpstr>
      <vt:lpstr>Central Economic Problems (Contd.)</vt:lpstr>
      <vt:lpstr>Central Economic Problems (Contd.)</vt:lpstr>
      <vt:lpstr>Central Economic Problems (Contd.)</vt:lpstr>
      <vt:lpstr>Central Economic Problems (Contd.)</vt:lpstr>
      <vt:lpstr>Central Economic Problems (Contd.)</vt:lpstr>
      <vt:lpstr>Central Economic Problems (Contd.)</vt:lpstr>
      <vt:lpstr>Opportunity Cost</vt:lpstr>
      <vt:lpstr>Production Possibility Curve (PPC)</vt:lpstr>
      <vt:lpstr>Features of PPC</vt:lpstr>
      <vt:lpstr>PowerPoint 演示文稿</vt:lpstr>
      <vt:lpstr>Microeconomics</vt:lpstr>
      <vt:lpstr>Topics of Microeconomics</vt:lpstr>
      <vt:lpstr>Importance of Microeconomics</vt:lpstr>
      <vt:lpstr>Macroeconomics</vt:lpstr>
      <vt:lpstr>Topics of Macroeconomics</vt:lpstr>
      <vt:lpstr>Importance of Macroeconomics</vt:lpstr>
      <vt:lpstr>Difference Between Microeconomics and Macroeconomics</vt:lpstr>
      <vt:lpstr>Relationship Between Micro and Macro Economics</vt:lpstr>
      <vt:lpstr>Economic Systems</vt:lpstr>
      <vt:lpstr>Capitalist Economy</vt:lpstr>
      <vt:lpstr>Advantages of Capitalism</vt:lpstr>
      <vt:lpstr>Disadvantages of Capitalism</vt:lpstr>
      <vt:lpstr>Socialist Economy</vt:lpstr>
      <vt:lpstr>Advantages of Socialism</vt:lpstr>
      <vt:lpstr>Disadvantages of Socialism</vt:lpstr>
      <vt:lpstr>Mixed Economy</vt:lpstr>
      <vt:lpstr>Advantages of Mixed Economy</vt:lpstr>
      <vt:lpstr>Economics and Engineering</vt:lpstr>
      <vt:lpstr>Importance of Economics for Engineers</vt:lpstr>
      <vt:lpstr>Engineering Economics</vt:lpstr>
      <vt:lpstr>Real-Life Examples</vt:lpstr>
      <vt:lpstr>Suggested Readings</vt:lpstr>
      <vt:lpstr>Questions and Discussion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WPS_1778441838</cp:lastModifiedBy>
  <cp:revision>31</cp:revision>
  <dcterms:created xsi:type="dcterms:W3CDTF">2025-07-23T00:59:00Z</dcterms:created>
  <dcterms:modified xsi:type="dcterms:W3CDTF">2026-06-13T20:11:33Z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49E70109ED1D4899BB6E6ABEB411BA05_13</vt:lpwstr>
  </property>
  <property fmtid="{D5CDD505-2E9C-101B-9397-08002B2CF9AE}" pid="3" name="KSOProductBuildVer">
    <vt:lpwstr>1033-12.1.0.26880</vt:lpwstr>
  </property>
</Properties>
</file>